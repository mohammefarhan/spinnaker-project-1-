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36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82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25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3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36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62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58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92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8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98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308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6497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629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76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528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51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21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64AFD61-BEF7-4799-8A06-9E2896B06DA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269B4F-8480-4968-85A2-5ABA8268A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91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9AD5-9F72-73FB-852A-D55BBD5E1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88012"/>
            <a:ext cx="9440034" cy="1828801"/>
          </a:xfrm>
        </p:spPr>
        <p:txBody>
          <a:bodyPr/>
          <a:lstStyle/>
          <a:p>
            <a:r>
              <a:rPr lang="en-IN" b="1" dirty="0"/>
              <a:t>SALARY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B22BC-CFD0-738E-BCAE-D9570169A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1385" y="5150048"/>
            <a:ext cx="9440034" cy="1049867"/>
          </a:xfrm>
        </p:spPr>
        <p:txBody>
          <a:bodyPr/>
          <a:lstStyle/>
          <a:p>
            <a:r>
              <a:rPr lang="en-US" b="1" i="1" dirty="0"/>
              <a:t>Internship Project Presentation for Spinnaker analytics</a:t>
            </a:r>
          </a:p>
          <a:p>
            <a:r>
              <a:rPr lang="en-US" b="1" i="1" dirty="0"/>
              <a:t>Developed by Farhan</a:t>
            </a:r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15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B62F-1653-E54B-F033-1E8054C2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Title &amp; Overview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01FA495-CA9B-187A-A53B-29C0729F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450" y="1880230"/>
            <a:ext cx="10353762" cy="4502097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Salary Prediction System</a:t>
            </a:r>
            <a:endParaRPr lang="en-US" dirty="0"/>
          </a:p>
          <a:p>
            <a:r>
              <a:rPr lang="en-US" dirty="0"/>
              <a:t>Machine learning–based system to predict expected salaries</a:t>
            </a:r>
          </a:p>
          <a:p>
            <a:r>
              <a:rPr lang="en-US" dirty="0"/>
              <a:t>Focused on NYC government job postings</a:t>
            </a:r>
          </a:p>
          <a:p>
            <a:r>
              <a:rPr lang="en-US" dirty="0"/>
              <a:t>Uses both structured job attributes and unstructured text data</a:t>
            </a:r>
          </a:p>
          <a:p>
            <a:r>
              <a:rPr lang="en-US" dirty="0"/>
              <a:t>Covers complete ML lifecycle: data → model → deployment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b="1" dirty="0"/>
              <a:t>Tools Used</a:t>
            </a:r>
            <a:endParaRPr lang="en-US" dirty="0"/>
          </a:p>
          <a:p>
            <a:r>
              <a:rPr lang="en-US" dirty="0"/>
              <a:t>Python, Pandas, NumPy</a:t>
            </a:r>
          </a:p>
          <a:p>
            <a:r>
              <a:rPr lang="en-US" dirty="0"/>
              <a:t>Scikit-learn</a:t>
            </a:r>
          </a:p>
          <a:p>
            <a:r>
              <a:rPr lang="en-US" dirty="0"/>
              <a:t>Streamlit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12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E54A-A9E9-B84F-1B88-1DF1ECA3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C54CE-B7FF-A136-85C0-A1967DF37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b="1" dirty="0"/>
              <a:t>Problem Statement</a:t>
            </a:r>
            <a:endParaRPr lang="en-US" dirty="0"/>
          </a:p>
          <a:p>
            <a:r>
              <a:rPr lang="en-US" dirty="0"/>
              <a:t>Salary determination varies widely across job roles and levels</a:t>
            </a:r>
          </a:p>
          <a:p>
            <a:r>
              <a:rPr lang="en-US" dirty="0"/>
              <a:t>Manual analysis is time-consuming and often inconsistent</a:t>
            </a:r>
          </a:p>
          <a:p>
            <a:r>
              <a:rPr lang="en-US" dirty="0"/>
              <a:t>Lack of transparency makes salary estimation difficult</a:t>
            </a:r>
          </a:p>
          <a:p>
            <a:pPr marL="36900" indent="0">
              <a:buNone/>
            </a:pPr>
            <a:r>
              <a:rPr lang="en-US" b="1" dirty="0"/>
              <a:t>Motivation</a:t>
            </a:r>
            <a:endParaRPr lang="en-US" dirty="0"/>
          </a:p>
          <a:p>
            <a:r>
              <a:rPr lang="en-US" dirty="0"/>
              <a:t>Automate salary prediction using historical job data</a:t>
            </a:r>
          </a:p>
          <a:p>
            <a:r>
              <a:rPr lang="en-US" dirty="0"/>
              <a:t>Identify salary patterns based on job characteristics</a:t>
            </a:r>
          </a:p>
          <a:p>
            <a:r>
              <a:rPr lang="en-US" dirty="0"/>
              <a:t>Apply machine learning to a real-world compensation problem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48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882A-1288-2E1F-5181-85063423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Description &amp; Target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6B871-8DC6-9895-8A78-D14EABDC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907" y="1649325"/>
            <a:ext cx="10353762" cy="5037802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b="1" dirty="0"/>
              <a:t>Dataset Overview</a:t>
            </a:r>
            <a:endParaRPr lang="en-US" dirty="0"/>
          </a:p>
          <a:p>
            <a:r>
              <a:rPr lang="en-US" dirty="0"/>
              <a:t>Source: NYC Government Job Postings</a:t>
            </a:r>
          </a:p>
          <a:p>
            <a:r>
              <a:rPr lang="en-US" dirty="0"/>
              <a:t>Real-world dataset with structured and unstructured fields</a:t>
            </a:r>
          </a:p>
          <a:p>
            <a:pPr marL="36900" indent="0">
              <a:buNone/>
            </a:pPr>
            <a:r>
              <a:rPr lang="en-US" b="1" dirty="0"/>
              <a:t>Key Features</a:t>
            </a:r>
            <a:endParaRPr lang="en-US" dirty="0"/>
          </a:p>
          <a:p>
            <a:r>
              <a:rPr lang="en-US" dirty="0"/>
              <a:t>Job Category</a:t>
            </a:r>
          </a:p>
          <a:p>
            <a:r>
              <a:rPr lang="en-US" dirty="0"/>
              <a:t>Career Level</a:t>
            </a:r>
          </a:p>
          <a:p>
            <a:r>
              <a:rPr lang="en-US" dirty="0"/>
              <a:t>Agency</a:t>
            </a:r>
          </a:p>
          <a:p>
            <a:r>
              <a:rPr lang="en-US" dirty="0"/>
              <a:t>Employment Type</a:t>
            </a:r>
          </a:p>
          <a:p>
            <a:r>
              <a:rPr lang="en-US" dirty="0"/>
              <a:t>Job Description &amp; Skills</a:t>
            </a:r>
          </a:p>
          <a:p>
            <a:pPr marL="36900" indent="0">
              <a:buNone/>
            </a:pPr>
            <a:r>
              <a:rPr lang="en-US" b="1" dirty="0"/>
              <a:t>Target Variable</a:t>
            </a:r>
            <a:endParaRPr lang="en-US" dirty="0"/>
          </a:p>
          <a:p>
            <a:r>
              <a:rPr lang="en-US" dirty="0"/>
              <a:t>Salary midpoint calculated as:</a:t>
            </a:r>
            <a:br>
              <a:rPr lang="en-US" dirty="0"/>
            </a:br>
            <a:r>
              <a:rPr lang="en-US" dirty="0"/>
              <a:t>(Salary Range From + Salary Range To)  /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548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4C49-AAEF-47FB-9624-D2FC19FD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DATA INFO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EB9B1-0571-25A7-5729-2F881BF9E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384" y="1580050"/>
            <a:ext cx="5532583" cy="483991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574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E401-E5C2-6317-9B24-0771F483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24D64-1A44-C1B8-42F4-1C6E9C1A7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b="1" dirty="0"/>
              <a:t>Cleaning Steps Performed</a:t>
            </a:r>
            <a:endParaRPr lang="en-US" dirty="0"/>
          </a:p>
          <a:p>
            <a:r>
              <a:rPr lang="en-US" dirty="0"/>
              <a:t>Removed records with missing salary values</a:t>
            </a:r>
          </a:p>
          <a:p>
            <a:r>
              <a:rPr lang="en-US" dirty="0"/>
              <a:t>Handled missing numerical values using imputation</a:t>
            </a:r>
          </a:p>
          <a:p>
            <a:r>
              <a:rPr lang="en-US" dirty="0"/>
              <a:t>Filled missing categorical values with default categories</a:t>
            </a:r>
          </a:p>
          <a:p>
            <a:r>
              <a:rPr lang="en-US" dirty="0"/>
              <a:t>Cleaned and combined textual fields</a:t>
            </a:r>
          </a:p>
          <a:p>
            <a:r>
              <a:rPr lang="en-US" dirty="0"/>
              <a:t>Removed duplicate job postings</a:t>
            </a:r>
          </a:p>
          <a:p>
            <a:pPr marL="36900" indent="0">
              <a:buNone/>
            </a:pPr>
            <a:r>
              <a:rPr lang="en-US" b="1" dirty="0"/>
              <a:t>Outcome</a:t>
            </a:r>
            <a:endParaRPr lang="en-US" dirty="0"/>
          </a:p>
          <a:p>
            <a:r>
              <a:rPr lang="en-US" dirty="0"/>
              <a:t>Clean, consistent, model-ready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13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D048-3F41-92A1-301A-28F151F8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70889-C4F1-E4BA-8C5A-78976A546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b="1" dirty="0"/>
              <a:t>Key Observations</a:t>
            </a:r>
            <a:endParaRPr lang="en-US" dirty="0"/>
          </a:p>
          <a:p>
            <a:r>
              <a:rPr lang="en-US" dirty="0"/>
              <a:t>Salary distribution is right-skewed</a:t>
            </a:r>
          </a:p>
          <a:p>
            <a:r>
              <a:rPr lang="en-US" dirty="0"/>
              <a:t>Senior and executive roles earn significantly higher salaries</a:t>
            </a:r>
          </a:p>
          <a:p>
            <a:r>
              <a:rPr lang="en-US" dirty="0"/>
              <a:t>Full-time roles generally pay more than part-time roles</a:t>
            </a:r>
          </a:p>
          <a:p>
            <a:r>
              <a:rPr lang="en-US" dirty="0"/>
              <a:t>Certain job categories and agencies consistently offer higher pay</a:t>
            </a:r>
          </a:p>
          <a:p>
            <a:pPr marL="36900" indent="0">
              <a:buNone/>
            </a:pPr>
            <a:r>
              <a:rPr lang="en-US" b="1" dirty="0"/>
              <a:t>Visualizations Used</a:t>
            </a:r>
            <a:endParaRPr lang="en-US" dirty="0"/>
          </a:p>
          <a:p>
            <a:r>
              <a:rPr lang="en-US" dirty="0"/>
              <a:t>Salary distribution plots</a:t>
            </a:r>
          </a:p>
          <a:p>
            <a:r>
              <a:rPr lang="en-US" dirty="0"/>
              <a:t>Box plots by career level and job category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549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6AC0-282D-3D2B-B1DD-87E15A8D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EDA GRAPHS</a:t>
            </a:r>
            <a:endParaRPr lang="en-IN" b="1" u="sng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3B8102-3A21-7875-C4D0-BAA466A54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52" y="1499398"/>
            <a:ext cx="4137077" cy="2398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8EF4EA-5BF2-7AA5-01FA-644412991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160" y="1499398"/>
            <a:ext cx="3590854" cy="2398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E27858-CABD-F461-DFC0-0AF4CAF49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363" y="4031722"/>
            <a:ext cx="3538943" cy="26537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A550ED0-92F5-8F4A-A71A-9F81E607A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52817" y="2573059"/>
            <a:ext cx="5186081" cy="30387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5727EA-49BB-A1F8-12DD-544B73A29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79" y="4004213"/>
            <a:ext cx="4137077" cy="2708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163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9C7B-CD0E-31E5-22D5-56E9E6F8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E90A-D221-695A-4641-04CB0C6D0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40642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Structured Feature Engineering</a:t>
            </a:r>
            <a:endParaRPr lang="en-US" dirty="0"/>
          </a:p>
          <a:p>
            <a:r>
              <a:rPr lang="en-US" dirty="0"/>
              <a:t>Binary feature for employment type (full-time / part-time)</a:t>
            </a:r>
          </a:p>
          <a:p>
            <a:r>
              <a:rPr lang="en-US" dirty="0"/>
              <a:t>Reduced high-cardinality agency names</a:t>
            </a:r>
          </a:p>
          <a:p>
            <a:r>
              <a:rPr lang="en-US" dirty="0"/>
              <a:t>One-hot encoding for categorical variables</a:t>
            </a:r>
          </a:p>
          <a:p>
            <a:pPr marL="36900" indent="0">
              <a:buNone/>
            </a:pPr>
            <a:r>
              <a:rPr lang="en-US" b="1" dirty="0"/>
              <a:t>Unstructured Feature Engineering</a:t>
            </a:r>
            <a:endParaRPr lang="en-US" dirty="0"/>
          </a:p>
          <a:p>
            <a:r>
              <a:rPr lang="en-US" dirty="0"/>
              <a:t>Combined job description, skills, and qualifications</a:t>
            </a:r>
          </a:p>
          <a:p>
            <a:r>
              <a:rPr lang="en-US" dirty="0"/>
              <a:t>Applied TF-IDF vectorization</a:t>
            </a:r>
          </a:p>
          <a:p>
            <a:r>
              <a:rPr lang="en-US" dirty="0"/>
              <a:t>Extracted important keywords and patterns</a:t>
            </a:r>
          </a:p>
          <a:p>
            <a:pPr marL="36900" indent="0">
              <a:buNone/>
            </a:pPr>
            <a:r>
              <a:rPr lang="en-US" b="1" dirty="0"/>
              <a:t>Result</a:t>
            </a:r>
            <a:endParaRPr lang="en-US" dirty="0"/>
          </a:p>
          <a:p>
            <a:r>
              <a:rPr lang="en-US" dirty="0"/>
              <a:t>Unified feature matrix with structured + text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21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943C-4C5B-6BB2-C960-A6A1EB66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Models Used &amp; Evaluation Strategy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D3F04-2A1B-0C72-8734-3FF7C43D5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79766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Models Implemented</a:t>
            </a:r>
            <a:endParaRPr lang="en-US" dirty="0"/>
          </a:p>
          <a:p>
            <a:r>
              <a:rPr lang="en-US" dirty="0"/>
              <a:t>Linear Regression (baseline)</a:t>
            </a:r>
          </a:p>
          <a:p>
            <a:r>
              <a:rPr lang="en-US" dirty="0"/>
              <a:t>Random Forest Regressor</a:t>
            </a:r>
          </a:p>
          <a:p>
            <a:r>
              <a:rPr lang="en-US" dirty="0"/>
              <a:t>Gradient Boosting Regressor</a:t>
            </a:r>
          </a:p>
          <a:p>
            <a:pPr marL="36900" indent="0">
              <a:buNone/>
            </a:pPr>
            <a:r>
              <a:rPr lang="en-US" b="1" dirty="0"/>
              <a:t>Evaluation Metrics</a:t>
            </a:r>
            <a:endParaRPr lang="en-US" dirty="0"/>
          </a:p>
          <a:p>
            <a:r>
              <a:rPr lang="en-US" dirty="0"/>
              <a:t>RMSE – measures prediction error</a:t>
            </a:r>
          </a:p>
          <a:p>
            <a:r>
              <a:rPr lang="en-US" dirty="0"/>
              <a:t>R² Score – explains variance in salary</a:t>
            </a:r>
          </a:p>
          <a:p>
            <a:r>
              <a:rPr lang="en-US" dirty="0"/>
              <a:t>Accuracy (±10%) – business-friendly metric</a:t>
            </a:r>
          </a:p>
          <a:p>
            <a:pPr marL="36900" indent="0">
              <a:buNone/>
            </a:pPr>
            <a:r>
              <a:rPr lang="en-US" b="1" dirty="0"/>
              <a:t>Accuracy Definition</a:t>
            </a:r>
            <a:endParaRPr lang="en-US" dirty="0"/>
          </a:p>
          <a:p>
            <a:r>
              <a:rPr lang="en-US" dirty="0"/>
              <a:t>Prediction is correct if within ±10% of actual salary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34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D1F0-01D3-6A67-265B-E4AA9EE9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Model Performance &amp;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32C3E-8272-6E9F-7523-11B0C00A8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b="1" dirty="0"/>
              <a:t>Model Comparison Summary</a:t>
            </a:r>
            <a:endParaRPr lang="en-IN" dirty="0"/>
          </a:p>
          <a:p>
            <a:r>
              <a:rPr lang="en-IN" dirty="0"/>
              <a:t>Linear Regression: simple baseline, limited performance</a:t>
            </a:r>
          </a:p>
          <a:p>
            <a:r>
              <a:rPr lang="en-IN" dirty="0"/>
              <a:t>Gradient Boosting: moderate error, unstable with text features</a:t>
            </a:r>
          </a:p>
          <a:p>
            <a:r>
              <a:rPr lang="en-IN" dirty="0"/>
              <a:t>Random Forest: best balance of accuracy and stability</a:t>
            </a:r>
          </a:p>
          <a:p>
            <a:pPr marL="36900" indent="0">
              <a:buNone/>
            </a:pPr>
            <a:r>
              <a:rPr lang="en-IN" b="1" dirty="0"/>
              <a:t>Best Model</a:t>
            </a:r>
            <a:endParaRPr lang="en-IN" dirty="0"/>
          </a:p>
          <a:p>
            <a:r>
              <a:rPr lang="en-IN" b="1" dirty="0"/>
              <a:t>Random Forest Regressor</a:t>
            </a:r>
            <a:endParaRPr lang="en-IN" dirty="0"/>
          </a:p>
          <a:p>
            <a:pPr lvl="1"/>
            <a:r>
              <a:rPr lang="en-IN" dirty="0"/>
              <a:t>Lowest RMSE</a:t>
            </a:r>
          </a:p>
          <a:p>
            <a:pPr lvl="1"/>
            <a:r>
              <a:rPr lang="en-IN" dirty="0"/>
              <a:t>Highest R² score</a:t>
            </a:r>
          </a:p>
          <a:p>
            <a:pPr lvl="1"/>
            <a:r>
              <a:rPr lang="en-IN" dirty="0"/>
              <a:t>Best tolerance-based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93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8B75-785F-9A5C-5365-C3743B21B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Hyperparameter Tuning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C1F6-3BDB-04AC-DD13-39807DB48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5911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b="1" dirty="0"/>
              <a:t>Hyperparameter Tuning</a:t>
            </a:r>
            <a:endParaRPr lang="en-IN" dirty="0"/>
          </a:p>
          <a:p>
            <a:r>
              <a:rPr lang="en-IN" dirty="0"/>
              <a:t>Tuned number of trees</a:t>
            </a:r>
          </a:p>
          <a:p>
            <a:r>
              <a:rPr lang="en-IN" dirty="0"/>
              <a:t>Controlled tree depth</a:t>
            </a:r>
          </a:p>
          <a:p>
            <a:r>
              <a:rPr lang="en-IN" dirty="0"/>
              <a:t>Adjusted minimum samples per split</a:t>
            </a:r>
          </a:p>
          <a:p>
            <a:r>
              <a:rPr lang="en-IN" dirty="0"/>
              <a:t>Improved overall model stability</a:t>
            </a:r>
          </a:p>
          <a:p>
            <a:pPr marL="36900" indent="0">
              <a:buNone/>
            </a:pPr>
            <a:r>
              <a:rPr lang="en-IN" b="1" dirty="0"/>
              <a:t>Deployment</a:t>
            </a:r>
            <a:endParaRPr lang="en-IN" dirty="0"/>
          </a:p>
          <a:p>
            <a:r>
              <a:rPr lang="en-IN" dirty="0"/>
              <a:t>Final model saved using Pickle</a:t>
            </a:r>
          </a:p>
          <a:p>
            <a:r>
              <a:rPr lang="en-IN" dirty="0"/>
              <a:t>Deployed using </a:t>
            </a:r>
            <a:r>
              <a:rPr lang="en-IN" dirty="0" err="1"/>
              <a:t>Streamlit</a:t>
            </a:r>
            <a:endParaRPr lang="en-IN" dirty="0"/>
          </a:p>
          <a:p>
            <a:r>
              <a:rPr lang="en-IN" dirty="0"/>
              <a:t>Dropdown-based inputs</a:t>
            </a:r>
          </a:p>
          <a:p>
            <a:r>
              <a:rPr lang="en-IN" dirty="0"/>
              <a:t>Real-time salary prediction with range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11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ABB5-E0BB-9523-EFAA-C3AAC33F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DASHBOARD POWER BI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C88B8-AAB4-8EDC-08E4-139068BDD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19" y="1580050"/>
            <a:ext cx="9605818" cy="46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131D-70FD-E842-9B8E-248DC722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41" y="166254"/>
            <a:ext cx="10353762" cy="767250"/>
          </a:xfrm>
        </p:spPr>
        <p:txBody>
          <a:bodyPr/>
          <a:lstStyle/>
          <a:p>
            <a:r>
              <a:rPr lang="en-US" b="1" u="sng" dirty="0"/>
              <a:t>APP INTERFACE</a:t>
            </a:r>
            <a:endParaRPr lang="en-IN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A45C3-414D-BCCA-8EC7-42ED190FF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45" y="933504"/>
            <a:ext cx="6548582" cy="58418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295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C9DB-9245-B6E9-F73B-A98781C8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51E7C-BE07-A42A-1908-C1BCBE9C3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715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Successfully built an end-to-end salary prediction system</a:t>
            </a:r>
          </a:p>
          <a:p>
            <a:r>
              <a:rPr lang="en-US" dirty="0"/>
              <a:t>Random Forest outperformed other models</a:t>
            </a:r>
          </a:p>
          <a:p>
            <a:r>
              <a:rPr lang="en-US" dirty="0"/>
              <a:t>Text + structured features significantly improved predictions</a:t>
            </a:r>
          </a:p>
          <a:p>
            <a:r>
              <a:rPr lang="en-US" dirty="0"/>
              <a:t>Project demonstrates real-world ML application</a:t>
            </a:r>
          </a:p>
          <a:p>
            <a:pPr marL="36900" indent="0">
              <a:buNone/>
            </a:pPr>
            <a:r>
              <a:rPr lang="en-US" b="1" dirty="0"/>
              <a:t>Future Scope</a:t>
            </a:r>
            <a:endParaRPr lang="en-US" dirty="0"/>
          </a:p>
          <a:p>
            <a:r>
              <a:rPr lang="en-US" dirty="0"/>
              <a:t>Use advanced NLP techniques</a:t>
            </a:r>
          </a:p>
          <a:p>
            <a:r>
              <a:rPr lang="en-US" dirty="0"/>
              <a:t>Automated hyperparameter tuning</a:t>
            </a:r>
          </a:p>
          <a:p>
            <a:r>
              <a:rPr lang="en-US" dirty="0"/>
              <a:t>Add explainability methods</a:t>
            </a:r>
          </a:p>
          <a:p>
            <a:r>
              <a:rPr lang="en-US" dirty="0"/>
              <a:t>Extend dataset to other regions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298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124</TotalTime>
  <Words>501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Calisto MT</vt:lpstr>
      <vt:lpstr>Wingdings 2</vt:lpstr>
      <vt:lpstr>Slate</vt:lpstr>
      <vt:lpstr>SALARY PREDICTION SYSTEM</vt:lpstr>
      <vt:lpstr>Title &amp; Overview</vt:lpstr>
      <vt:lpstr>Problem Statement &amp; Motivation</vt:lpstr>
      <vt:lpstr>Dataset Description &amp; Target Variable</vt:lpstr>
      <vt:lpstr>DATA INFO</vt:lpstr>
      <vt:lpstr>Data Cleaning Process</vt:lpstr>
      <vt:lpstr>Exploratory Data Analysis (EDA)</vt:lpstr>
      <vt:lpstr>EDA GRAPHS</vt:lpstr>
      <vt:lpstr>Feature Engineering</vt:lpstr>
      <vt:lpstr>Models Used &amp; Evaluation Strategy </vt:lpstr>
      <vt:lpstr>Model Performance &amp; Selection</vt:lpstr>
      <vt:lpstr>Hyperparameter Tuning &amp; Deployment</vt:lpstr>
      <vt:lpstr>DASHBOARD POWER BI</vt:lpstr>
      <vt:lpstr>APP INTERFACE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md</dc:creator>
  <cp:lastModifiedBy>farhan md</cp:lastModifiedBy>
  <cp:revision>2</cp:revision>
  <dcterms:created xsi:type="dcterms:W3CDTF">2026-01-29T09:14:07Z</dcterms:created>
  <dcterms:modified xsi:type="dcterms:W3CDTF">2026-01-29T11:26:08Z</dcterms:modified>
</cp:coreProperties>
</file>